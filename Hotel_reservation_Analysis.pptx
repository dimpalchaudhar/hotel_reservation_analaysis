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charts/chart7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0B2545"/>
                </a:solidFill>
                <a:latin typeface="Calibri"/>
              </a:rPr>
              <a:t>Bookings by channel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5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Website</c:v>
                </c:pt>
                <c:pt idx="1">
                  <c:v>Mobile App</c:v>
                </c:pt>
                <c:pt idx="2">
                  <c:v>Travel Agent</c:v>
                </c:pt>
                <c:pt idx="3">
                  <c:v>Walk-in</c:v>
                </c:pt>
                <c:pt idx="4">
                  <c:v>Phone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984</c:v>
                </c:pt>
                <c:pt idx="1">
                  <c:v>875</c:v>
                </c:pt>
                <c:pt idx="2">
                  <c:v>405</c:v>
                </c:pt>
                <c:pt idx="3">
                  <c:v>314</c:v>
                </c:pt>
                <c:pt idx="4">
                  <c:v>222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88-47B2-A7AB-4F7A2AD219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0B2545"/>
                </a:solidFill>
                <a:latin typeface="Calibri"/>
              </a:rPr>
              <a:t>Bookings per quarter (*Q3 2026 partial, to 12 Aug)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spPr>
            <a:ln w="38100" cap="flat">
              <a:solidFill>
                <a:srgbClr val="2A9D8F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545"/>
                    </a:solidFill>
                    <a:latin typeface="Calibri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24Q1</c:v>
                </c:pt>
                <c:pt idx="1">
                  <c:v>24Q2</c:v>
                </c:pt>
                <c:pt idx="2">
                  <c:v>24Q3</c:v>
                </c:pt>
                <c:pt idx="3">
                  <c:v>24Q4</c:v>
                </c:pt>
                <c:pt idx="4">
                  <c:v>25Q1</c:v>
                </c:pt>
                <c:pt idx="5">
                  <c:v>25Q2</c:v>
                </c:pt>
                <c:pt idx="6">
                  <c:v>25Q3</c:v>
                </c:pt>
                <c:pt idx="7">
                  <c:v>25Q4</c:v>
                </c:pt>
                <c:pt idx="8">
                  <c:v>26Q1</c:v>
                </c:pt>
                <c:pt idx="9">
                  <c:v>26Q2</c:v>
                </c:pt>
                <c:pt idx="10">
                  <c:v>26Q3*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206</c:v>
                </c:pt>
                <c:pt idx="1">
                  <c:v>233</c:v>
                </c:pt>
                <c:pt idx="2">
                  <c:v>216</c:v>
                </c:pt>
                <c:pt idx="3">
                  <c:v>230</c:v>
                </c:pt>
                <c:pt idx="4">
                  <c:v>219</c:v>
                </c:pt>
                <c:pt idx="5">
                  <c:v>280</c:v>
                </c:pt>
                <c:pt idx="6">
                  <c:v>273</c:v>
                </c:pt>
                <c:pt idx="7">
                  <c:v>276</c:v>
                </c:pt>
                <c:pt idx="8">
                  <c:v>341</c:v>
                </c:pt>
                <c:pt idx="9">
                  <c:v>350</c:v>
                </c:pt>
                <c:pt idx="10">
                  <c:v>176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4FF-440C-AC0D-54FABC8C529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Calibri"/>
              </a:defRPr>
            </a:pPr>
            <a:r>
              <a:rPr lang="en-IN" sz="1200" b="0" i="0" u="none" strike="noStrike">
                <a:solidFill>
                  <a:srgbClr val="0B2545"/>
                </a:solidFill>
                <a:latin typeface="Calibri"/>
              </a:rPr>
              <a:t>Room type requested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Room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2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B21-4A26-A8F9-82DC3EE34A78}"/>
              </c:ext>
            </c:extLst>
          </c:dPt>
          <c:dPt>
            <c:idx val="1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B21-4A26-A8F9-82DC3EE34A78}"/>
              </c:ext>
            </c:extLst>
          </c:dPt>
          <c:dPt>
            <c:idx val="2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B21-4A26-A8F9-82DC3EE34A78}"/>
              </c:ext>
            </c:extLst>
          </c:dPt>
          <c:dPt>
            <c:idx val="3"/>
            <c:bubble3D val="0"/>
            <c:spPr>
              <a:solidFill>
                <a:srgbClr val="8DA9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B21-4A26-A8F9-82DC3EE34A7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B21-4A26-A8F9-82DC3EE34A7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B21-4A26-A8F9-82DC3EE34A7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B21-4A26-A8F9-82DC3EE34A78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B21-4A26-A8F9-82DC3EE34A7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Standard</c:v>
                </c:pt>
                <c:pt idx="1">
                  <c:v>Deluxe</c:v>
                </c:pt>
                <c:pt idx="2">
                  <c:v>Suite</c:v>
                </c:pt>
                <c:pt idx="3">
                  <c:v>Executive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1259</c:v>
                </c:pt>
                <c:pt idx="1">
                  <c:v>841</c:v>
                </c:pt>
                <c:pt idx="2">
                  <c:v>444</c:v>
                </c:pt>
                <c:pt idx="3">
                  <c:v>256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B21-4A26-A8F9-82DC3EE34A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C6B7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E0E-44EC-94F4-CAAEF5401ED6}"/>
              </c:ext>
            </c:extLst>
          </c:dPt>
          <c:dPt>
            <c:idx val="1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E0E-44EC-94F4-CAAEF5401ED6}"/>
              </c:ext>
            </c:extLst>
          </c:dPt>
          <c:dPt>
            <c:idx val="2"/>
            <c:bubble3D val="0"/>
            <c:spPr>
              <a:solidFill>
                <a:srgbClr val="C855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E0E-44EC-94F4-CAAEF5401ED6}"/>
              </c:ext>
            </c:extLst>
          </c:dPt>
          <c:dPt>
            <c:idx val="3"/>
            <c:bubble3D val="0"/>
            <c:spPr>
              <a:solidFill>
                <a:srgbClr val="8DA9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E0E-44EC-94F4-CAAEF5401ED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E0E-44EC-94F4-CAAEF5401ED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E0E-44EC-94F4-CAAEF5401ED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E0E-44EC-94F4-CAAEF5401ED6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E0E-44EC-94F4-CAAEF5401ED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Checked-out</c:v>
                </c:pt>
                <c:pt idx="1">
                  <c:v>No-show</c:v>
                </c:pt>
                <c:pt idx="2">
                  <c:v>Cancelled</c:v>
                </c:pt>
                <c:pt idx="3">
                  <c:v>In-progress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2117</c:v>
                </c:pt>
                <c:pt idx="1">
                  <c:v>542</c:v>
                </c:pt>
                <c:pt idx="2">
                  <c:v>480</c:v>
                </c:pt>
                <c:pt idx="3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E0E-44EC-94F4-CAAEF5401E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B7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Problem rate %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483-40A0-80B7-8B81F4E382C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483-40A0-80B7-8B81F4E382C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483-40A0-80B7-8B81F4E382CE}"/>
              </c:ext>
            </c:extLst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483-40A0-80B7-8B81F4E382CE}"/>
              </c:ext>
            </c:extLst>
          </c:dPt>
          <c:dPt>
            <c:idx val="4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483-40A0-80B7-8B81F4E382CE}"/>
              </c:ext>
            </c:extLst>
          </c:dPt>
          <c:dPt>
            <c:idx val="5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483-40A0-80B7-8B81F4E382CE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5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H017 Kochi Palace</c:v>
                </c:pt>
                <c:pt idx="1">
                  <c:v>H023 Indore Plaza</c:v>
                </c:pt>
                <c:pt idx="2">
                  <c:v>H013 Ahmedabad Plaza</c:v>
                </c:pt>
                <c:pt idx="3">
                  <c:v>H011 Goa Grand</c:v>
                </c:pt>
                <c:pt idx="4">
                  <c:v>H005 Mumbai Grand</c:v>
                </c:pt>
                <c:pt idx="5">
                  <c:v>H003 Chandigarh Res.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39.200000000000003</c:v>
                </c:pt>
                <c:pt idx="1">
                  <c:v>38.4</c:v>
                </c:pt>
                <c:pt idx="2">
                  <c:v>38.299999999999997</c:v>
                </c:pt>
                <c:pt idx="3">
                  <c:v>25</c:v>
                </c:pt>
                <c:pt idx="4">
                  <c:v>25.2</c:v>
                </c:pt>
                <c:pt idx="5">
                  <c:v>19.8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483-40A0-80B7-8B81F4E382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8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Calibri"/>
              </a:defRPr>
            </a:pPr>
            <a:r>
              <a:rPr lang="en-IN" sz="1200" b="0" i="0" u="none" strike="noStrike">
                <a:solidFill>
                  <a:srgbClr val="0B2545"/>
                </a:solidFill>
                <a:latin typeface="Calibri"/>
              </a:rPr>
              <a:t>Stays handled by department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Stays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5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Front Desk</c:v>
                </c:pt>
                <c:pt idx="1">
                  <c:v>Housekeeping</c:v>
                </c:pt>
                <c:pt idx="2">
                  <c:v>Concierge</c:v>
                </c:pt>
                <c:pt idx="3">
                  <c:v>Guest Services</c:v>
                </c:pt>
                <c:pt idx="4">
                  <c:v>Maintenance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980</c:v>
                </c:pt>
                <c:pt idx="1">
                  <c:v>976</c:v>
                </c:pt>
                <c:pt idx="2">
                  <c:v>664</c:v>
                </c:pt>
                <c:pt idx="3">
                  <c:v>357</c:v>
                </c:pt>
                <c:pt idx="4">
                  <c:v>223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85-4D11-AC87-F54CC0A0CE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0B2545"/>
                </a:solidFill>
                <a:latin typeface="Calibri"/>
              </a:rPr>
              <a:t>Avg service requests per stay by room capacity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service requests</c:v>
                </c:pt>
              </c:strCache>
            </c:strRef>
          </c:tx>
          <c:spPr>
            <a:solidFill>
              <a:srgbClr val="8DA9C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831-4DA7-A391-71D4374258E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831-4DA7-A391-71D4374258E7}"/>
              </c:ext>
            </c:extLst>
          </c:dPt>
          <c:dPt>
            <c:idx val="2"/>
            <c:invertIfNegative val="0"/>
            <c:bubble3D val="0"/>
            <c:spPr>
              <a:solidFill>
                <a:srgbClr val="0B2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831-4DA7-A391-71D4374258E7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54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Max 2 guests</c:v>
                </c:pt>
                <c:pt idx="1">
                  <c:v>Max 3 guests</c:v>
                </c:pt>
                <c:pt idx="2">
                  <c:v>Max 4 guests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0.71</c:v>
                </c:pt>
                <c:pt idx="1">
                  <c:v>0.71</c:v>
                </c:pt>
                <c:pt idx="2">
                  <c:v>0.84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831-4DA7-A391-71D4374258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0566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project goal is to move from business requirement to data-driven answer using MySQL.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Currency assumed to be INR given Indian cities; the dataset does not state a currency.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Hotel names are not unique (Mumbai Grand and Mumbai Residency each appear under two IDs), so this chart uses hotel_id.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C9A227">
              <a:alpha val="20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377440"/>
            <a:ext cx="2926080" cy="2926080"/>
          </a:xfrm>
          <a:prstGeom prst="ellipse">
            <a:avLst/>
          </a:prstGeom>
          <a:solidFill>
            <a:srgbClr val="2A9D8F">
              <a:alpha val="25000"/>
            </a:srgbClr>
          </a:solidFill>
          <a:ln w="12700">
            <a:solidFill>
              <a:srgbClr val="2A9D8F">
                <a:alpha val="2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BUSINESS ANALYTICS PROJECT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Reservation Operations Analytics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260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booking, stay and staff data into operational insight for StayPoint Hospitality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StayPoint runs 25 hotels; Operations needs to know where demand, stays and staff effort are going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 and analyst role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527048"/>
            <a:ext cx="16459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080260"/>
            <a:ext cx="16459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across Indian cities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42032" y="14173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79192" y="1527048"/>
            <a:ext cx="16459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679192" y="2080260"/>
            <a:ext cx="16459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guests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14173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64024" y="1527048"/>
            <a:ext cx="16459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2,800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764024" y="2080260"/>
            <a:ext cx="16459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(Jan 2024 - Aug 2026)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11696" y="141732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48856" y="1527048"/>
            <a:ext cx="16459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3,200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848856" y="2080260"/>
            <a:ext cx="16459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records handled by 70 staff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2926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we set out to answer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29184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and how are bookings generated (hotel, channel, room type, time)?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Individual and Corporate guests use the reservation service?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are stays completed, and which hotels, staff and rooms drive outcomes?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some bookings fail to become completed stays?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related tables: guests book at hotels, and bookings are fulfilled as stays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(from the ER diagram)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2286000" cy="292608"/>
          </a:xfrm>
          <a:prstGeom prst="roundRect">
            <a:avLst>
              <a:gd name="adj" fmla="val 1875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389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 (350)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70078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guest_id PK, guest_type, city, loyalty_tier, preferred_room_type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29000" y="137160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371600"/>
            <a:ext cx="2286000" cy="292608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389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 (2,800)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170078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booking_id PK, guest_id FK, hotel_id FK, channel, nights_booked, total_amount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0" y="137160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371600"/>
            <a:ext cx="2286000" cy="292608"/>
          </a:xfrm>
          <a:prstGeom prst="roundRect">
            <a:avLst>
              <a:gd name="adj" fmla="val 1875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1389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 (25)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170078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hotel_id PK, hotel_name, city, star_rating, total_rooms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29000" y="292608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29000" y="2926080"/>
            <a:ext cx="2286000" cy="292608"/>
          </a:xfrm>
          <a:prstGeom prst="roundRect">
            <a:avLst>
              <a:gd name="adj" fmla="val 1875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29000" y="2944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 (3,200)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520440" y="325526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stay_id PK, booking_id FK, room_id FK, staff_id FK, status, service_requests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926080"/>
            <a:ext cx="2286000" cy="292608"/>
          </a:xfrm>
          <a:prstGeom prst="roundRect">
            <a:avLst>
              <a:gd name="adj" fmla="val 1875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2944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 (70)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25526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staff_id PK, department, rating, is_active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0" y="292608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0" y="2926080"/>
            <a:ext cx="2286000" cy="292608"/>
          </a:xfrm>
          <a:prstGeom prst="roundRect">
            <a:avLst>
              <a:gd name="adj" fmla="val 1875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0" y="2944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 (600)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325526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room_id PK, hotel_id FK, room_type, max_occupancy, price_per_night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0" y="1801368"/>
            <a:ext cx="685800" cy="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15000" y="1801368"/>
            <a:ext cx="685800" cy="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2240280"/>
            <a:ext cx="0" cy="68580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0" y="3355848"/>
            <a:ext cx="685800" cy="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15000" y="3355848"/>
            <a:ext cx="685800" cy="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43800" y="2240280"/>
            <a:ext cx="0" cy="68580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information sits on bookings, so hotel-level stay analysis always joins stays to bookings first.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built in dependency order, imported and validated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2: setup, and data-quality findings that shaped the analysis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51760" cy="31546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19456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first: guests, hotels, staff, rooms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bookings, then stays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PKs, FKs, NOT NULL, CHECK and DEFAULT constraints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2651760" cy="31546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600200"/>
            <a:ext cx="411480" cy="4114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97764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19456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CSVs loaded via import wizard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counts match the brief (350 / 25 / 600 / 2,800 / 3,200 / 70)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stored as text; parsed as dd-mm-yyyy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417320"/>
            <a:ext cx="2651760" cy="31546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600200"/>
            <a:ext cx="411480" cy="41148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findings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19456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hotel names repeat (Mumbai Grand, Mumbai Residency) so we group by hotel_id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2,600 of 2,800 bookings have a stay; 600 bookings have multiple stays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and no-show stays still carry a check-in date with 0 nights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numbers from the Sprint 3 exploration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analysis of the database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481328"/>
            <a:ext cx="16459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93646"/>
            <a:ext cx="164592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guests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42032" y="13716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79192" y="1481328"/>
            <a:ext cx="16459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2,800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679192" y="2193646"/>
            <a:ext cx="164592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bookings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13716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64024" y="1481328"/>
            <a:ext cx="16459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3,200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764024" y="2193646"/>
            <a:ext cx="164592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stays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11696" y="13716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48856" y="1481328"/>
            <a:ext cx="16459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848856" y="2193646"/>
            <a:ext cx="164592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types: Standard, Deluxe, Executive, Suite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081528"/>
            <a:ext cx="16459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 of 70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3793846"/>
            <a:ext cx="164592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currently active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42032" y="29718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79192" y="3081528"/>
            <a:ext cx="16459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2679192" y="3793846"/>
            <a:ext cx="164592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Website, Mobile App, Travel Agent, Walk-in, Phone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26864" y="29718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64024" y="3081528"/>
            <a:ext cx="16459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₹45.8M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4764024" y="3793846"/>
            <a:ext cx="164592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booking amount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11696" y="29718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48856" y="3081528"/>
            <a:ext cx="16459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3.32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6848856" y="3793846"/>
            <a:ext cx="164592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nights per booking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and Mobile App bring two-thirds of bookings; Mobile App earns the most per booking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Booking demand by channel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325880"/>
          <a:ext cx="49377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37160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06440" y="1481328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66%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5806440" y="1928470"/>
            <a:ext cx="274320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bookings from Website + Mobile App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0" y="246888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06440" y="2578608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₹17.4k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5806440" y="3025750"/>
            <a:ext cx="274320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avg booking value (highest)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0" y="356616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06440" y="3675888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3.46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5806440" y="4123030"/>
            <a:ext cx="2743200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avg nights; Website lowest at 3.17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volume has grown steadily, and Standard rooms dominate requests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Booking trend and room type demand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325880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5760720" y="1280160"/>
          <a:ext cx="30175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760720" y="4069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(₹27.5k) and Executive (₹24.3k) bookings are worth 2.5x Standard (₹10.8k).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Nearly every guest is a repeat guest; Individuals bring 68% of revenue, but Corporates book as often per guest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Guest booking behaviour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4813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322 / 339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00802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who booked more than once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71576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24246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by the most active guest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840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guest makes 6 bookings; the busiest quartile makes 9+.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97480" y="1371600"/>
          <a:ext cx="5989320" cy="2688336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₹31.4M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₹14.4M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Bookings per guest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booking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₹16.5k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₹16.1k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nights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2697480" y="4160520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driven by headcount (2.2x more Individuals), not behaviour: per-guest activity and booking value are almost identical.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in three stays complete; roughly one in three ends as a no-show or cancellation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Stay performance by status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280160"/>
          <a:ext cx="40233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663440" y="137160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00600" y="1618488"/>
            <a:ext cx="219456" cy="21945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66360" y="14264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Checked-out  2,117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166360" y="168249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Completed. Averages 3.3 nights, 81 hours and 1.1 service requests.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219456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00600" y="2441448"/>
            <a:ext cx="219456" cy="21945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66360" y="22494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 542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166360" y="25054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never arrived; 0 nights recorded, no revenue realised.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663440" y="301752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00600" y="3264408"/>
            <a:ext cx="219456" cy="219456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66360" y="30723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 480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166360" y="33284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withdrawn; 0 nights. Together with no-shows = 31.9% of stays.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63440" y="384048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00600" y="4087368"/>
            <a:ext cx="219456" cy="219456"/>
          </a:xfrm>
          <a:prstGeom prst="ellipse">
            <a:avLst/>
          </a:prstGeom>
          <a:solidFill>
            <a:srgbClr val="8DA9C4"/>
          </a:solidFill>
          <a:ln w="12700">
            <a:solidFill>
              <a:srgbClr val="8DA9C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166360" y="38953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In-progress  61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166360" y="41513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open; not a failure. Excluded from outcome rates.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rates range from 20% to 39% across hotels; Kochi Palace is worst, Chandigarh best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/ 4.5 Cancellation + no-show rate by hotel (by hotel_id)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32588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035040" y="13716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72200" y="14813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31.9%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172200" y="1954987"/>
            <a:ext cx="23774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average (no-show + cancelled)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35040" y="256032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2697480"/>
            <a:ext cx="2423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Top-volume hotels (H004 Kolkata: 129 bookings, H006 Mumbai Suites: 128) sit at about 35%, above average.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Grand appears twice under different IDs; always compare by ID.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Workload is evenly spread across staff; Front Desk carries the most stays and rates highest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Staff and room performance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325880"/>
          <a:ext cx="42062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114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rating: Front Desk 4.29, Guest Services 4.21, Housekeeping 4.16, Concierge 4.02, Maintenance 3.89.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937760" y="137160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74920" y="14813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5074920" y="200802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stays per staff (range 30-59)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0" y="137160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95160" y="14813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 / 70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6995160" y="200802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active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937760" y="2651760"/>
            <a:ext cx="3749040" cy="1920240"/>
          </a:xfrm>
          <a:prstGeom prst="roundRect">
            <a:avLst>
              <a:gd name="adj" fmla="val 381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120640" y="2743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usage by type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120640" y="3108960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1,440 stays, Deluxe 1,018, Suite 464, Executive 278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stay length is similar (about 2.2 nights) across all room types, so room type does not drive duration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Cancelled and no-show stays log no service requests, while 4-guest rooms generate the most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Booking and stay problems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325880"/>
          <a:ext cx="402336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754880" y="137160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pattern tells us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1828800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and no-show stays log 0 service requests; every stay with 4+ requests was checked out.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rooms draw about 18% more requests than 2-guest rooms (0.84 vs 0.71).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matters little: problem rate is 30% (Walk-in) to 34% (Mobile App).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rate is flat over time (about 32% in 2024, 2025 and 2026), so this is structural, not seasonal.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and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14345E"/>
          </a:solidFill>
          <a:ln w="12700">
            <a:solidFill>
              <a:srgbClr val="14345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2527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revenue at the source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6459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deposits or reminder nudges for the 32% of stays lost to no-shows and cancellations, starting with Mobile App bookings.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46120" y="114300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14345E"/>
          </a:solidFill>
          <a:ln w="12700">
            <a:solidFill>
              <a:srgbClr val="1434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10712" y="12527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weakest hotels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3410712" y="16459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Kochi Palace, Indore Plaza and Ahmedabad Plaza (38-39%); copy practices from Chandigarh Residency (20%).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14300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14345E"/>
          </a:solidFill>
          <a:ln w="12700">
            <a:solidFill>
              <a:srgbClr val="1434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99632" y="12527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high-value demand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199632" y="16459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Suite and Executive rooms (2.5x the value of Standard) and lean into Mobile App, which earns the most per booking.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14345E"/>
          </a:solidFill>
          <a:ln w="12700">
            <a:solidFill>
              <a:srgbClr val="14345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0358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 repeat guests better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34290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95% of guests booking repeatedly, a loyalty and corporate-account programme has a large, ready audience.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292608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14345E"/>
          </a:solidFill>
          <a:ln w="12700">
            <a:solidFill>
              <a:srgbClr val="1434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10712" y="30358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for the big rooms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410712" y="34290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4-guest rooms extra housekeeping and concierge support; lift Maintenance and Concierge ratings.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292608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14345E"/>
          </a:solidFill>
          <a:ln w="12700">
            <a:solidFill>
              <a:srgbClr val="1434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99632" y="30358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the data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4290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hotel names unique, store dates as DATE, and link each booking to a single final stay record.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1333</Words>
  <Application>Microsoft Office PowerPoint</Application>
  <PresentationFormat>On-screen Show (16:9)</PresentationFormat>
  <Paragraphs>194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StayPoint Hotel Reservation Analytics</dc:title>
  <dc:subject>PptxGenJS Presentation</dc:subject>
  <dc:creator>PptxGenJS</dc:creator>
  <cp:lastModifiedBy>dimpal Chaudhari</cp:lastModifiedBy>
  <cp:revision>2</cp:revision>
  <dcterms:created xsi:type="dcterms:W3CDTF">2026-09-24T15:41:02Z</dcterms:created>
  <dcterms:modified xsi:type="dcterms:W3CDTF">2026-09-24T16:19:20Z</dcterms:modified>
</cp:coreProperties>
</file>